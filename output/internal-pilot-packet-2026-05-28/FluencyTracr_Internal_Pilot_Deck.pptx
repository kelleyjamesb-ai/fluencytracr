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907d7a6f404af3" /><Relationship Type="http://schemas.openxmlformats.org/officeDocument/2006/relationships/extended-properties" Target="/docProps/app.xml" Id="R7a5c556c5f374e6e" /><Relationship Type="http://schemas.openxmlformats.org/officeDocument/2006/relationships/officeDocument" Target="/ppt/presentation.xml" Id="Re24419f97a6e45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7a7b24ba0241df"/>
  </p:sldMasterIdLst>
  <p:notesMasterIdLst>
    <p:notesMasterId xmlns:r="http://schemas.openxmlformats.org/officeDocument/2006/relationships" r:id="R9f01a52c0f764944"/>
  </p:notesMasterIdLst>
  <p:sldIdLst>
    <p:sldId xmlns:r="http://schemas.openxmlformats.org/officeDocument/2006/relationships" id="256" r:id="R3393dc2d869749c4"/>
    <p:sldId xmlns:r="http://schemas.openxmlformats.org/officeDocument/2006/relationships" id="257" r:id="R7d3411abb61543c2"/>
    <p:sldId xmlns:r="http://schemas.openxmlformats.org/officeDocument/2006/relationships" id="258" r:id="R5e4ac068bede4b03"/>
    <p:sldId xmlns:r="http://schemas.openxmlformats.org/officeDocument/2006/relationships" id="259" r:id="R5f08204f1fee4aff"/>
    <p:sldId xmlns:r="http://schemas.openxmlformats.org/officeDocument/2006/relationships" id="260" r:id="R9ac34bfbde3142d2"/>
    <p:sldId xmlns:r="http://schemas.openxmlformats.org/officeDocument/2006/relationships" id="261" r:id="R4b7a7d436b2c4960"/>
    <p:sldId xmlns:r="http://schemas.openxmlformats.org/officeDocument/2006/relationships" id="262" r:id="R73a7a22ed7c245ec"/>
    <p:sldId xmlns:r="http://schemas.openxmlformats.org/officeDocument/2006/relationships" id="263" r:id="Rfc8b3eaf9fdb4767"/>
    <p:sldId xmlns:r="http://schemas.openxmlformats.org/officeDocument/2006/relationships" id="264" r:id="R8f031abcdce246ad"/>
    <p:sldId xmlns:r="http://schemas.openxmlformats.org/officeDocument/2006/relationships" id="265" r:id="Rcac022a69880447f"/>
  </p:sldIdLst>
  <p:sldSz cx="15240000" cy="8572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7a7b24ba0241df" /><Relationship Type="http://schemas.openxmlformats.org/officeDocument/2006/relationships/theme" Target="/ppt/theme/theme1.xml" Id="Rdef2c06474b343b6" /><Relationship Type="http://schemas.openxmlformats.org/officeDocument/2006/relationships/notesMaster" Target="/ppt/notesMasters/notesMaster1.xml" Id="R9f01a52c0f764944" /><Relationship Type="http://schemas.openxmlformats.org/officeDocument/2006/relationships/presProps" Target="/ppt/presProps.xml" Id="Rb8e78baf6567407d" /><Relationship Type="http://schemas.openxmlformats.org/officeDocument/2006/relationships/viewProps" Target="/ppt/viewProps.xml" Id="R9eabc96409a94059" /><Relationship Type="http://schemas.openxmlformats.org/officeDocument/2006/relationships/tableStyles" Target="/ppt/tableStyles.xml" Id="R5e7ee38e35024ccd" /><Relationship Type="http://schemas.openxmlformats.org/officeDocument/2006/relationships/slide" Target="/ppt/slides/slide1.xml" Id="R3393dc2d869749c4" /><Relationship Type="http://schemas.openxmlformats.org/officeDocument/2006/relationships/slide" Target="/ppt/slides/slide2.xml" Id="R7d3411abb61543c2" /><Relationship Type="http://schemas.openxmlformats.org/officeDocument/2006/relationships/slide" Target="/ppt/slides/slide3.xml" Id="R5e4ac068bede4b03" /><Relationship Type="http://schemas.openxmlformats.org/officeDocument/2006/relationships/slide" Target="/ppt/slides/slide4.xml" Id="R5f08204f1fee4aff" /><Relationship Type="http://schemas.openxmlformats.org/officeDocument/2006/relationships/slide" Target="/ppt/slides/slide5.xml" Id="R9ac34bfbde3142d2" /><Relationship Type="http://schemas.openxmlformats.org/officeDocument/2006/relationships/slide" Target="/ppt/slides/slide6.xml" Id="R4b7a7d436b2c4960" /><Relationship Type="http://schemas.openxmlformats.org/officeDocument/2006/relationships/slide" Target="/ppt/slides/slide7.xml" Id="R73a7a22ed7c245ec" /><Relationship Type="http://schemas.openxmlformats.org/officeDocument/2006/relationships/slide" Target="/ppt/slides/slide8.xml" Id="Rfc8b3eaf9fdb4767" /><Relationship Type="http://schemas.openxmlformats.org/officeDocument/2006/relationships/slide" Target="/ppt/slides/slide9.xml" Id="R8f031abcdce246ad" /><Relationship Type="http://schemas.openxmlformats.org/officeDocument/2006/relationships/slide" Target="/ppt/slides/slide10.xml" Id="Rcac022a69880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c71ea77ee3e44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4a0c54765c4d3b" /><Relationship Type="http://schemas.openxmlformats.org/officeDocument/2006/relationships/notesMaster" Target="/ppt/notesMasters/notesMaster1.xml" Id="Rcd0943f5399345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ec57e3213942b7" /><Relationship Type="http://schemas.openxmlformats.org/officeDocument/2006/relationships/notesMaster" Target="/ppt/notesMasters/notesMaster1.xml" Id="R8041af8b7b124e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8f605c5fb749f3" /><Relationship Type="http://schemas.openxmlformats.org/officeDocument/2006/relationships/notesMaster" Target="/ppt/notesMasters/notesMaster1.xml" Id="Rf3b7ebc7bc534f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10e885b9434f93" /><Relationship Type="http://schemas.openxmlformats.org/officeDocument/2006/relationships/notesMaster" Target="/ppt/notesMasters/notesMaster1.xml" Id="R5c3523d54b4b43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4fbfbc65614a50" /><Relationship Type="http://schemas.openxmlformats.org/officeDocument/2006/relationships/notesMaster" Target="/ppt/notesMasters/notesMaster1.xml" Id="R9843615e98d94a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fd4b12f65d4aab" /><Relationship Type="http://schemas.openxmlformats.org/officeDocument/2006/relationships/notesMaster" Target="/ppt/notesMasters/notesMaster1.xml" Id="Ra8dcb4b50c474b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46b38018db4e16" /><Relationship Type="http://schemas.openxmlformats.org/officeDocument/2006/relationships/notesMaster" Target="/ppt/notesMasters/notesMaster1.xml" Id="R58c90c7f7b2f40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ae78402431469e" /><Relationship Type="http://schemas.openxmlformats.org/officeDocument/2006/relationships/notesMaster" Target="/ppt/notesMasters/notesMaster1.xml" Id="R675549f378804e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138508b1cc49e9" /><Relationship Type="http://schemas.openxmlformats.org/officeDocument/2006/relationships/notesMaster" Target="/ppt/notesMasters/notesMaster1.xml" Id="Rd64bb5d8a2be4a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f168e7a0454661" /><Relationship Type="http://schemas.openxmlformats.org/officeDocument/2006/relationships/notesMaster" Target="/ppt/notesMasters/notesMaster1.xml" Id="R41bbb22360b84d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bbbdacf0ee411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f07f0b57d3647e1" /><Relationship Type="http://schemas.openxmlformats.org/officeDocument/2006/relationships/slideLayout" Target="/ppt/slideLayouts/slideLayout2.xml" Id="R8dbd556b15ab48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bd556b15ab48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743026c0f34abe" /><Relationship Type="http://schemas.openxmlformats.org/officeDocument/2006/relationships/notesSlide" Target="/ppt/notesSlides/notesSlide1.xml" Id="R8858f2a990a342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041aef0637438d" /><Relationship Type="http://schemas.openxmlformats.org/officeDocument/2006/relationships/notesSlide" Target="/ppt/notesSlides/notesSlide2.xml" Id="R7260aaacedf044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266851dfcc4d98" /><Relationship Type="http://schemas.openxmlformats.org/officeDocument/2006/relationships/notesSlide" Target="/ppt/notesSlides/notesSlide3.xml" Id="Ra38d62cab7354e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230f6bfcfa4522" /><Relationship Type="http://schemas.openxmlformats.org/officeDocument/2006/relationships/image" Target="/ppt/media/image.png" Id="R0e8984a7b7e840eb" /><Relationship Type="http://schemas.openxmlformats.org/officeDocument/2006/relationships/notesSlide" Target="/ppt/notesSlides/notesSlide4.xml" Id="R4b0c0651871741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a075c2497b4e66" /><Relationship Type="http://schemas.openxmlformats.org/officeDocument/2006/relationships/image" Target="/ppt/media/image2.png" Id="Rc82aaf06af704888" /><Relationship Type="http://schemas.openxmlformats.org/officeDocument/2006/relationships/notesSlide" Target="/ppt/notesSlides/notesSlide5.xml" Id="R889ca490f6c44e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7963c350974733" /><Relationship Type="http://schemas.openxmlformats.org/officeDocument/2006/relationships/image" Target="/ppt/media/image3.png" Id="Rd8d4faf6282c466d" /><Relationship Type="http://schemas.openxmlformats.org/officeDocument/2006/relationships/notesSlide" Target="/ppt/notesSlides/notesSlide6.xml" Id="R75c1dbab64c74a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24ba17b114465e" /><Relationship Type="http://schemas.openxmlformats.org/officeDocument/2006/relationships/image" Target="/ppt/media/image4.png" Id="R05d066c0fa9b4dd4" /><Relationship Type="http://schemas.openxmlformats.org/officeDocument/2006/relationships/notesSlide" Target="/ppt/notesSlides/notesSlide7.xml" Id="Rbe88ab4aa2ef48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549aedbc034bcd" /><Relationship Type="http://schemas.openxmlformats.org/officeDocument/2006/relationships/notesSlide" Target="/ppt/notesSlides/notesSlide8.xml" Id="R96c814793d4841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827dcb8d84459f" /><Relationship Type="http://schemas.openxmlformats.org/officeDocument/2006/relationships/notesSlide" Target="/ppt/notesSlides/notesSlide9.xml" Id="R7f1d947c9c084b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d09452bb674dad" /><Relationship Type="http://schemas.openxmlformats.org/officeDocument/2006/relationships/notesSlide" Target="/ppt/notesSlides/notesSlide10.xml" Id="R6247dc92063144f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7B0300-A29C-49A1-852F-301117D0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INTERNAL PILOT REHEARSAL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BB406-A5E6-4D9B-9E52-3432273F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FluencyTracr AI Work Evidence Packet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88C87-EE6C-463F-99DD-B265F382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full aggregate run using company-owned telemetry to show what an executive-ready pilot can deliver before ROI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A16B7-DA09-4F85-A964-34DC277A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DE159-E2BB-45A4-96C4-6E62A524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31432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3B1E9-B2BB-4EBF-B831-952F1DDC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193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4.93 TB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DAE68-8A20-4176-8F27-CC2FFE0F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146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Fresh BigQuery 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4BC9F-544D-4287-91FD-716A8FBE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28875"/>
            <a:ext cx="31432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38A84-A26C-4AF4-98D4-097ABF72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193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8A4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8A45"/>
                </a:solidFill>
                <a:latin typeface="Arial"/>
                <a:ea typeface="Arial"/>
                <a:cs typeface="Arial"/>
              </a:rPr>
              <a:t>99.95%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D70AE-A703-4103-B3A6-950A12D7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146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High-confidence trust coverage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D86E7-2D17-4988-94C6-D0C26BAF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28875"/>
            <a:ext cx="31432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2C8201-8191-4EF6-8FF3-226B381D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193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43.1%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85AE9-A95B-48B2-B500-2279A66A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146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Trust evidence gap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7282D-AFA2-4CE7-924A-4051F45A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428875"/>
            <a:ext cx="3143250" cy="1200150"/>
          </a:xfrm>
          <a:prstGeom xmlns:a="http://schemas.openxmlformats.org/drawingml/2006/main" prst="roundRect">
            <a:avLst>
              <a:gd name="adj" fmla="val 158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BDA9E-515F-44DD-B9BB-D69D298F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725" y="26193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E749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E7490"/>
                </a:solidFill>
                <a:latin typeface="Arial"/>
                <a:ea typeface="Arial"/>
                <a:cs typeface="Arial"/>
              </a:rPr>
              <a:t>99.6%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F503A-6DC2-436F-9F89-DB626AC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725" y="31146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Skill-read parent join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3A4936-3FD1-4E29-9C26-465E69BB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86250"/>
            <a:ext cx="13525500" cy="2238375"/>
          </a:xfrm>
          <a:prstGeom xmlns:a="http://schemas.openxmlformats.org/drawingml/2006/main" prst="roundRect">
            <a:avLst>
              <a:gd name="adj" fmla="val 11915"/>
            </a:avLst>
          </a:prstGeom>
          <a:solidFill xmlns:a="http://schemas.openxmlformats.org/drawingml/2006/main">
            <a:srgbClr val="061A44"/>
          </a:solidFill>
          <a:ln xmlns:a="http://schemas.openxmlformats.org/drawingml/2006/main" w="13335">
            <a:solidFill>
              <a:srgbClr val="061A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A28C65-DBC8-4A41-9C1A-4AA10A25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Executive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A9A0A6-1DCE-4B32-96F3-BCA5BB60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1257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data already separates AI activity from workflow evidence, trust evidence, source coverage, and value-readiness. The current blocker is not telemetry volume; it is downstream outcome evidence and governed assumptions.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FB755-FCCE-498A-9D57-5121E1A4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B63432-D708-4BA3-B1A7-1DDD1D8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11160147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D7A458-C1EA-427C-A079-1543382A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WHAT THE RUN OBSERVED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C0A4C-EE16-4186-B4B4-8228BA2D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Observable Variables, Not Client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F0B69-76B4-4BA1-8A62-E8CE55A5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The rehearsal starts from variables already visible in company-owned telemetry, then names gaps as product readiness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1BC89-6CAB-44A9-8DA0-E52719DF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6C213-F119-4FFD-8A50-8A6031C8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EB445-9CF2-419E-8F0A-864DBB87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431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Surfaces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60FAE-996D-4B2E-97A7-64179929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003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Search, autocomplete, workflow runs, AI summary, bot activity, MCP, agent spans.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A2CF6-F62F-40E8-B3E2-7F355741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3336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484DB-84AD-4860-A8FE-B8B14641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5431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Workflow keys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EA8413-DBBD-4E48-A46D-7EE471A7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0003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Run/action keys, session tokens, trace/tracking keys, workflow context.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C76BED-B762-4014-B9C2-273CCC72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A099E6-A4B1-42EF-9A4B-9603498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431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Behavior primitives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5713E-07B0-40BA-9354-7175C8BD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003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Frequency, engagement, breadth, iteration/refinement, recovery-like continuation, verification.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55779E-86E2-45F2-BD03-8F889D22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90ACD-D7FC-4357-9E19-F46A65E9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386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Trust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5C342-ED7C-4E9F-B60E-EBF64E82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958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Feedback, citations, citation clicks, action success, post-friction continuation.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77909-D91F-4C27-B857-AF823543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4291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F1CE55-AEA8-4BE0-9363-58312E3B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386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Value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658F34-E1C4-4439-A835-B6B6FA0C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50958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Velocity x Depth zones, motif tiers, source coverage, outcome-readiness gates.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7E79D4-F9D6-475D-A671-1B8BD2B9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29125"/>
            <a:ext cx="4095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9941D8-B042-48F4-81F9-D2F5622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3867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Held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3CFBEC-B760-439C-96C7-9243C6FC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095875"/>
            <a:ext cx="3600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Outcome joins, assumption ledger, causality design, monetary range values.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0286B8-54AD-446E-8D12-D88D1E2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A5C3F-374C-46D6-97EF-91160639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5247731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063EED-F8BA-4FA5-8195-E03CC02E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FRESH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C1263-3C00-41FB-8C36-36A1263D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Velocity, Depth, Reliability,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FD9A4-F53C-44CC-8946-A53A4BBD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The microcosm view shows growing breadth and sustained reliability/quality context across the latest 90-day window.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1139A-30A3-40FC-89EC-05C7A442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339EE-93E6-4F58-B228-CCFE1E6A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Frequency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6A78E7-147A-4EFD-8732-FF7BCF5E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545320"/>
            <a:ext cx="323850" cy="207443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463EB"/>
          </a:solidFill>
          <a:ln xmlns:a="http://schemas.openxmlformats.org/drawingml/2006/main" w="13335">
            <a:solidFill>
              <a:srgbClr val="2463E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713A66-38E7-4B6D-8809-54EF0266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70.2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F55E6-8FC5-4495-8BD2-820AA149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779144"/>
            <a:ext cx="323850" cy="184060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463EB"/>
          </a:solidFill>
          <a:ln xmlns:a="http://schemas.openxmlformats.org/drawingml/2006/main" w="13335">
            <a:solidFill>
              <a:srgbClr val="24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52DD2-A201-4287-B910-10371710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62.3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B79E6-2BA3-4268-AC2B-8A5565DE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238500"/>
            <a:ext cx="323850" cy="23812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463EB"/>
          </a:solidFill>
          <a:ln xmlns:a="http://schemas.openxmlformats.org/drawingml/2006/main" w="13335">
            <a:solidFill>
              <a:srgbClr val="24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48AA6-0352-416F-BB94-E89A7AEF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80.6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FBBAC-2F19-40A7-ADC9-BF654FC6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86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Engagement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18C-76F4-4623-8D6D-32F39D75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20567"/>
            <a:ext cx="323850" cy="1999183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13335">
            <a:solidFill>
              <a:srgbClr val="0E749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8141E7-D9C1-4BEF-BF11-F7737792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17.3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69257-6D9C-46FE-B637-AD9C6323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802423"/>
            <a:ext cx="323850" cy="1817327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13335">
            <a:solidFill>
              <a:srgbClr val="0E749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71175-717A-42F9-8F8E-444AD377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15.7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700BB3-603D-4EE9-AFE3-DCD96118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238500"/>
            <a:ext cx="323850" cy="23812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13335">
            <a:solidFill>
              <a:srgbClr val="0E749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9DB342-C89C-45C2-945C-2A8D2BC5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20.6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74AF92-DB6A-48B4-8136-C68FE6C8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Breadth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787D0-309B-4849-8D1B-C75DAA1E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21972"/>
            <a:ext cx="323850" cy="2097778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3335">
            <a:solidFill>
              <a:srgbClr val="7C3AE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B71EC-4A0B-488D-9812-843202B8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5.7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20BA5B-C95B-485B-BE89-EF7D5D33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52524"/>
            <a:ext cx="323850" cy="186722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3335">
            <a:solidFill>
              <a:srgbClr val="7C3AE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F266D-D5D6-4EE6-8402-83CF2157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5.1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AA55B8-E76E-4537-95A5-7845CF04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238500"/>
            <a:ext cx="323850" cy="23812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3335">
            <a:solidFill>
              <a:srgbClr val="7C3AE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FC315-6B01-4986-AAF3-AC0E466E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6.5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8CFF5F-8A7A-40B5-8D3E-C62EBFF4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86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Reliability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25338-6469-4C97-A69E-021E7CEA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25491"/>
            <a:ext cx="323850" cy="1694259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8A45"/>
          </a:solidFill>
          <a:ln xmlns:a="http://schemas.openxmlformats.org/drawingml/2006/main" w="13335">
            <a:solidFill>
              <a:srgbClr val="0F8A4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DBFC75-5786-4407-A80F-C95F1FCF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0.71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0FBF92-D7C8-49FC-9674-CB60462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091702"/>
            <a:ext cx="323850" cy="1528048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8A45"/>
          </a:solidFill>
          <a:ln xmlns:a="http://schemas.openxmlformats.org/drawingml/2006/main" w="13335">
            <a:solidFill>
              <a:srgbClr val="0F8A4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82BCFC-0CE4-44CF-97E8-323E769A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BE07A2-0FB9-494D-B5CC-0DE3B5A2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3971211"/>
            <a:ext cx="323850" cy="1648539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8A45"/>
          </a:solidFill>
          <a:ln xmlns:a="http://schemas.openxmlformats.org/drawingml/2006/main" w="13335">
            <a:solidFill>
              <a:srgbClr val="0F8A4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E0F145-B9A4-4864-A23B-2FD0324B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0.69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B0ACC8-97F7-424B-8060-F5E2276E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286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E7F503-955F-4C07-BC93-A3E89B7E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2716530"/>
            <a:ext cx="323850" cy="290322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3335">
            <a:solidFill>
              <a:srgbClr val="D9770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7955A6-623D-4112-8E58-18597DF4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1.22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712231-BA1F-46BD-8405-DABC5A0C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7825" y="2956798"/>
            <a:ext cx="323850" cy="2662952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3335">
            <a:solidFill>
              <a:srgbClr val="D9770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15D2E3-F617-44BB-8253-46C623C4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1.12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DADB9-DCCD-4690-8601-D9EB4D64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5025" y="2798921"/>
            <a:ext cx="323850" cy="2820829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3335">
            <a:solidFill>
              <a:srgbClr val="D97706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F74E49-6908-430C-A4EC-CF393CE2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58102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1.18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4AA6F4-5B61-46F6-BD0E-33FE7C7D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52462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Window 1       Window 2       Window 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7E9809-9DDD-46C6-AD06-A47B25F5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F4D18F-5418-4522-8FBC-7748336C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53002150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CE3B8F-715B-47A4-BA7C-020B0F2F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MOTIF TIERS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ECD00C-2F4A-42F6-9C32-53248EA1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Activity Is Not the Same as Workflow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AFA9C-696C-45C0-94D7-B6CB13CF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Tiering prevents high-volume assistive events from drowning out the stronger workflow and trust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CD0266-7FD2-4813-9C53-0D4EE0A2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3473B-9689-4D0B-86C5-E10BAA4D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2219D-2F1A-4D92-8764-938A893E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984a7b7e840eb"/>
          <a:stretch xmlns:a="http://schemas.openxmlformats.org/drawingml/2006/main"/>
        </p:blipFill>
        <p:spPr>
          <a:xfrm xmlns:a="http://schemas.openxmlformats.org/drawingml/2006/main">
            <a:off x="2540000" y="1952625"/>
            <a:ext cx="1016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705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D45E7F-16B2-4A4B-9A18-F2EA2A45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VALUE READINESS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DC377-15FC-464D-8872-7093EA2E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Where the Evidence Points Leaders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0F441-9B70-4DE5-8784-EC6EB1C8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The largest lane is trust-evidence repair; the most commercial lane is scale-and-measure review with outcome evidence attached.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29EF7-B336-4085-B407-2DC50EE8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A0484-ED5C-4974-934B-225EFDEA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6B8C6-A0A9-4492-BEE6-F0ABF303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aaf06af704888"/>
          <a:stretch xmlns:a="http://schemas.openxmlformats.org/drawingml/2006/main"/>
        </p:blipFill>
        <p:spPr>
          <a:xfrm xmlns:a="http://schemas.openxmlformats.org/drawingml/2006/main">
            <a:off x="2540000" y="1952625"/>
            <a:ext cx="1016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34141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FCF149-408D-4EF7-9C76-BA9BE552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TRUST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38CAF-A51E-41A8-9C3C-0706ECA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Trust Attribution Is the Product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BB03A-0DC8-4FEA-899B-4891A912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The best trust evidence is workflow-attached verification and continuation, not standalone citation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3F5F3-3785-4CD1-9F3F-D51F5BEE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F99FD-D9AC-4010-AF08-B37888B8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0FE70-2196-4FEC-AFF4-7FB9C344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4faf6282c466d"/>
          <a:stretch xmlns:a="http://schemas.openxmlformats.org/drawingml/2006/main"/>
        </p:blipFill>
        <p:spPr>
          <a:xfrm xmlns:a="http://schemas.openxmlformats.org/drawingml/2006/main">
            <a:off x="2540000" y="1952625"/>
            <a:ext cx="1016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3699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A51164-64CC-48E4-8727-9FA126D7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DATA READINESS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624DF-BBC9-4592-894A-D57E9540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What We Have and What Is Still Held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2128F-155C-4567-B5AA-A2950EA9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Missing evidence is presented as a product-readiness gap, not as an ask that blocks the first pilot conversation.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9D643-2B7A-4A89-A9AF-83C80FB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8B19B-E727-4B06-873A-D434B5FC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71187-CA55-4ED5-900F-63B3A058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066c0fa9b4dd4"/>
          <a:stretch xmlns:a="http://schemas.openxmlformats.org/drawingml/2006/main"/>
        </p:blipFill>
        <p:spPr>
          <a:xfrm xmlns:a="http://schemas.openxmlformats.org/drawingml/2006/main">
            <a:off x="2370667" y="1809750"/>
            <a:ext cx="10498667" cy="590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5032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60A4DD-3FC6-4C3D-87E8-B9502691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DECISION MEMO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EB77A-DAF7-4163-A41A-48BFB8C9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Proceed, But Keep the Claim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A5014-6FF9-4379-AFFE-D1655725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This is commercially useful as an evidence layer, not yet as an ROI calculator.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885AB-1227-4A29-9A4A-95B64524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C2BF0-CBF1-45BB-8C74-D0AC898F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13144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BA07A-F255-4AED-84C2-81216A1A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288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8A4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F8A45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8F4B0-D68D-4B8F-82A9-EEB890B9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193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Build the external executive rehearsal packet from this internal pilot.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B2AEF-C3DD-49BF-AB0C-BACE079E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81375"/>
            <a:ext cx="13144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FFB6A-0AAD-4216-805B-60E610D0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195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Promise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4F091-F90D-4666-B8E9-26AA68AF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099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Aggregate work evidence, workflow integration, trust gaps, source coverage, and value-investigation routing.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34752-CFBB-46AD-A030-DA52E3C4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3144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BDDB7-33B1-4027-BA4A-9B38E706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2CF0F-D4A8-41CE-AC86-F5EB0B4F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006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Dollarized ROI, causal impact, productivity lift, correctness, and people/team comparison.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4F01B-0B30-4552-8193-A0119314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62625"/>
            <a:ext cx="13144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90A82-077A-4E98-B8AC-6C1D93F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6000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25B8C-2BED-4D76-A6A6-D5F6498C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9912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the same aggregate variable names for client pilots and add outcome/assumption lanes only when they are governed.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D30AD3-F3DD-42B1-8799-F8F60FBF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4D5D4-7E5C-4A2D-B198-AEB477ED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3436381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5E3D7-ABF8-4B83-8EBC-13FDB9B1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GLOSSARY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5CC89-6700-4302-9A37-910C3206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Terms That Explain the Evidence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0AD30-6A40-42B0-A55A-0FC50A4E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Plain-English definitions for the terms used in this packet.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4ABED-1AE4-4F71-87EE-C2D7B930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C4615-B7AE-4006-9EA1-ED5E75F2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AI Work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1B2F3-AA0D-4A6F-A626-B6F96D30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98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Aggregate telemetry showing where AI appears in work, how it connects to workflows, and where evidence is strong or weak.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D03BC-9111-44C1-9DE5-5E5F3ABD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43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AI surface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4A27D-FEC5-4375-B491-45EB0A5B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098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place where AI can be used: search, chat, autocomplete, workflow runs, agent spans, or embedded assistants.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5E011-2E48-4BE7-95C1-9FF61418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Workflow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C2D31-A9F0-4CBA-A1C8-017B444F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Aggregate signs that AI is attached to a real work path instead of a standalone interaction.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708A4-2EE4-4088-92F1-5187ECA8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Velocity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01B6AA-7735-4066-97D1-1C447E8E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09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quickly AI-assisted work appears to move, using aggregate frequency, engagement, and repeat-use patterns.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F44CA-671C-44F2-87FD-CD7B383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Depth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9D136-3078-4525-AA95-C6A70467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00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embedded AI appears to be across surfaces and workflows; not an individual skill label.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A7AF9C-A889-47B5-AC31-44F89B17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43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Frequency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423B7-242B-44FA-A0EC-F5F2087F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100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often AI activity appears in the aggregate window.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08D2C-216B-485E-9A15-C0ACFD44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Engagement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9F031F-28A3-4F33-840D-15CF45FF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much aggregate interaction occurs around AI-assisted work, such as repeated use or continued activity.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BD3698-8F30-408E-B987-534E649C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Breadth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2122F2-062E-428D-927D-0BEB5947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102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many distinct AI surfaces or work contexts appear in the aggregate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B061F3-EADC-4244-A240-0E7576F6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43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Reliability Factor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06B98-D17D-4375-878F-1C34669F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4103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confidence lens using abandonment, friction loops, recovery, and verification before interpreting behavior.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BBAC3C-8DAE-4238-A445-239CBE6C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143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Quality Multiplier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722F2-DE4E-4A69-9DAB-67BB8F0B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4103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caveat lens for later time-saved assumptions; not used here to calculate ROI.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997877-BB70-4211-938C-D1329CAE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CE3028-D9B1-4867-8F25-9387E536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13531729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608A43-2BA0-489E-BF32-8A67DB1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463EB"/>
                </a:solidFill>
                <a:latin typeface="Arial"/>
                <a:ea typeface="Arial"/>
                <a:cs typeface="Arial"/>
              </a:rPr>
              <a:t>GLOSSARY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7082C-80AB-4915-993C-AF3A53B6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1190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Terms That Explain Readiness and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DB4109-DCF2-4883-B7AA-1C015F93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Plain-English definitions for the terms used in this packet.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29CE11-E348-46FB-A02D-89D63ACE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00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Signals, not scores. Aggregate evidence only.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0E70C-A265-4441-B352-92693887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Trust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636CB-2731-4334-B818-1A28E813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98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Aggregate signs that people verified, continued, corrected, recovered, or gave feedback after AI assistance.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725B4-99BF-44B0-AF98-5CFCA16E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43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Trust attribution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2DFF2-BE36-4608-B7F2-C15F8C70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098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Whether a trust signal can be attached to a workflow path with enough confidence to interpret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869B6-F640-441F-9D38-F55472E3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Evidence 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32752-3C6F-4464-8AE7-67799CC0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Activity exists, but source coverage, attribution, or downstream context is too weak to interpret.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677D4-F336-46C3-B804-B4DCFD1D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Motif tier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389EC-3296-4BC8-AED6-F900238A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099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plain-language bucket separating raw activity from stronger workflow, verification, or coverage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05826E-85ED-4BDC-8C27-01AF891F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43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Value-readiness zone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B67BF-F74B-445F-B5F0-EC57C852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00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An executive action lane: scale, redesign, repair trust loops, or hold interpretation.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D89DE-64D3-4DA7-A8DF-68A692A3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43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Outcome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B0F23-1BFF-412E-9A9F-3618EC87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100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Customer-owned aggregate business context that can be attached later without claiming causality by default.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B3C3AB-122A-4D06-AF70-0946B7F0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Value 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E902F-80EA-4119-8027-C089B24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testable idea about possible value, such as acceleration, quality premium, or net-new work; not ROI proof.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6C8BE1-6B67-4FE7-9333-B4B3C757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Source coverage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62D064-FD4B-4C47-A31D-C288B81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102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complete and unambiguous the available telemetry is for a given aggregate interpretation.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0732F7-A25F-45A5-A966-E127B6F4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43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1A4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61A44"/>
                </a:solidFill>
                <a:latin typeface="Arial"/>
                <a:ea typeface="Arial"/>
                <a:cs typeface="Arial"/>
              </a:rPr>
              <a:t>Suppressed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F5536A-A54D-40B5-A83E-D985AEE8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4103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 fail-closed result where FluencyTracr withholds interpretation because the evidence bar is not met.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7FA9D2-7E74-44EC-BD51-C5FB079C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905750"/>
            <a:ext cx="139065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13335">
            <a:solidFill>
              <a:srgbClr val="CBD5E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950758-99F9-4CE6-93E8-FD0E945A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58150"/>
            <a:ext cx="1390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No individual scoring | No team ranking | No ROI calculation | No causality claim</a:t>
            </a:r>
          </a:p>
        </p:txBody>
      </p:sp>
    </p:spTree>
    <p:extLst>
      <p:ext uri="{BB962C8B-B14F-4D97-AF65-F5344CB8AC3E}">
        <p14:creationId xmlns:p14="http://schemas.microsoft.com/office/powerpoint/2010/main" val="1590567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2026-05-28T17:52:45.2000000Z</dcterms:created>
  <dcterms:modified xsi:type="dcterms:W3CDTF">2026-05-28T17:52:45.2000000Z</dcterms:modified>
</coreProperties>
</file>