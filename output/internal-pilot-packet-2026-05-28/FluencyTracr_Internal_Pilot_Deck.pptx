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314e1ee724675" /><Relationship Type="http://schemas.openxmlformats.org/officeDocument/2006/relationships/extended-properties" Target="/docProps/app.xml" Id="R19774acbd67b4285" /><Relationship Type="http://schemas.openxmlformats.org/officeDocument/2006/relationships/officeDocument" Target="/ppt/presentation.xml" Id="R0c9ebed1095f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d29fae69e0486a"/>
  </p:sldMasterIdLst>
  <p:notesMasterIdLst>
    <p:notesMasterId xmlns:r="http://schemas.openxmlformats.org/officeDocument/2006/relationships" r:id="Rf0f3465e9a2848bd"/>
  </p:notesMasterIdLst>
  <p:sldIdLst>
    <p:sldId xmlns:r="http://schemas.openxmlformats.org/officeDocument/2006/relationships" id="256" r:id="R81628c4889174dfe"/>
    <p:sldId xmlns:r="http://schemas.openxmlformats.org/officeDocument/2006/relationships" id="257" r:id="R7bc642b5df56490c"/>
    <p:sldId xmlns:r="http://schemas.openxmlformats.org/officeDocument/2006/relationships" id="258" r:id="R7a0f2c6b7e6143c2"/>
    <p:sldId xmlns:r="http://schemas.openxmlformats.org/officeDocument/2006/relationships" id="259" r:id="Rabaf06d5ea3944a2"/>
    <p:sldId xmlns:r="http://schemas.openxmlformats.org/officeDocument/2006/relationships" id="260" r:id="R7768410c0c2f4c72"/>
    <p:sldId xmlns:r="http://schemas.openxmlformats.org/officeDocument/2006/relationships" id="261" r:id="R3bb67ef7f56944cc"/>
    <p:sldId xmlns:r="http://schemas.openxmlformats.org/officeDocument/2006/relationships" id="262" r:id="R73ee0935fae64689"/>
    <p:sldId xmlns:r="http://schemas.openxmlformats.org/officeDocument/2006/relationships" id="263" r:id="Rc3f66240b3f54f01"/>
    <p:sldId xmlns:r="http://schemas.openxmlformats.org/officeDocument/2006/relationships" id="264" r:id="R61bf3aac64ce437d"/>
    <p:sldId xmlns:r="http://schemas.openxmlformats.org/officeDocument/2006/relationships" id="265" r:id="R99a228b24e2b43b9"/>
    <p:sldId xmlns:r="http://schemas.openxmlformats.org/officeDocument/2006/relationships" id="266" r:id="R03708620c26740ba"/>
    <p:sldId xmlns:r="http://schemas.openxmlformats.org/officeDocument/2006/relationships" id="267" r:id="R336c0acac1f9411d"/>
    <p:sldId xmlns:r="http://schemas.openxmlformats.org/officeDocument/2006/relationships" id="268" r:id="Rb33c683d0b00425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29fae69e0486a" /><Relationship Type="http://schemas.openxmlformats.org/officeDocument/2006/relationships/theme" Target="/ppt/theme/theme1.xml" Id="Rcbd514c0b53f4839" /><Relationship Type="http://schemas.openxmlformats.org/officeDocument/2006/relationships/notesMaster" Target="/ppt/notesMasters/notesMaster1.xml" Id="Rf0f3465e9a2848bd" /><Relationship Type="http://schemas.openxmlformats.org/officeDocument/2006/relationships/presProps" Target="/ppt/presProps.xml" Id="R48295786378040d1" /><Relationship Type="http://schemas.openxmlformats.org/officeDocument/2006/relationships/viewProps" Target="/ppt/viewProps.xml" Id="R37353a12f0034c08" /><Relationship Type="http://schemas.openxmlformats.org/officeDocument/2006/relationships/tableStyles" Target="/ppt/tableStyles.xml" Id="R291f9370c391421a" /><Relationship Type="http://schemas.openxmlformats.org/officeDocument/2006/relationships/slide" Target="/ppt/slides/slide1.xml" Id="R81628c4889174dfe" /><Relationship Type="http://schemas.openxmlformats.org/officeDocument/2006/relationships/slide" Target="/ppt/slides/slide2.xml" Id="R7bc642b5df56490c" /><Relationship Type="http://schemas.openxmlformats.org/officeDocument/2006/relationships/slide" Target="/ppt/slides/slide3.xml" Id="R7a0f2c6b7e6143c2" /><Relationship Type="http://schemas.openxmlformats.org/officeDocument/2006/relationships/slide" Target="/ppt/slides/slide4.xml" Id="Rabaf06d5ea3944a2" /><Relationship Type="http://schemas.openxmlformats.org/officeDocument/2006/relationships/slide" Target="/ppt/slides/slide5.xml" Id="R7768410c0c2f4c72" /><Relationship Type="http://schemas.openxmlformats.org/officeDocument/2006/relationships/slide" Target="/ppt/slides/slide6.xml" Id="R3bb67ef7f56944cc" /><Relationship Type="http://schemas.openxmlformats.org/officeDocument/2006/relationships/slide" Target="/ppt/slides/slide7.xml" Id="R73ee0935fae64689" /><Relationship Type="http://schemas.openxmlformats.org/officeDocument/2006/relationships/slide" Target="/ppt/slides/slide8.xml" Id="Rc3f66240b3f54f01" /><Relationship Type="http://schemas.openxmlformats.org/officeDocument/2006/relationships/slide" Target="/ppt/slides/slide9.xml" Id="R61bf3aac64ce437d" /><Relationship Type="http://schemas.openxmlformats.org/officeDocument/2006/relationships/slide" Target="/ppt/slides/slide10.xml" Id="R99a228b24e2b43b9" /><Relationship Type="http://schemas.openxmlformats.org/officeDocument/2006/relationships/slide" Target="/ppt/slides/slide11.xml" Id="R03708620c26740ba" /><Relationship Type="http://schemas.openxmlformats.org/officeDocument/2006/relationships/slide" Target="/ppt/slides/slide12.xml" Id="R336c0acac1f9411d" /><Relationship Type="http://schemas.openxmlformats.org/officeDocument/2006/relationships/slide" Target="/ppt/slides/slide13.xml" Id="Rb33c683d0b00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ebfda13e094c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bbc1ccd10d453d" /><Relationship Type="http://schemas.openxmlformats.org/officeDocument/2006/relationships/notesMaster" Target="/ppt/notesMasters/notesMaster1.xml" Id="Re4f6530f98bb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36e448c4e44b4" /><Relationship Type="http://schemas.openxmlformats.org/officeDocument/2006/relationships/notesMaster" Target="/ppt/notesMasters/notesMaster1.xml" Id="R30a2612a917d4a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89e8c1e525400b" /><Relationship Type="http://schemas.openxmlformats.org/officeDocument/2006/relationships/notesMaster" Target="/ppt/notesMasters/notesMaster1.xml" Id="R0aef01efba0c47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16b96bd3134ca4" /><Relationship Type="http://schemas.openxmlformats.org/officeDocument/2006/relationships/notesMaster" Target="/ppt/notesMasters/notesMaster1.xml" Id="R739ad9cfd17f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97bad58134d41" /><Relationship Type="http://schemas.openxmlformats.org/officeDocument/2006/relationships/notesMaster" Target="/ppt/notesMasters/notesMaster1.xml" Id="R6422b2185eb848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769af5ae24241" /><Relationship Type="http://schemas.openxmlformats.org/officeDocument/2006/relationships/notesMaster" Target="/ppt/notesMasters/notesMaster1.xml" Id="Rd5292e7db10a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730eac340e48b5" /><Relationship Type="http://schemas.openxmlformats.org/officeDocument/2006/relationships/notesMaster" Target="/ppt/notesMasters/notesMaster1.xml" Id="R2abf9f74f640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38e58258624172" /><Relationship Type="http://schemas.openxmlformats.org/officeDocument/2006/relationships/notesMaster" Target="/ppt/notesMasters/notesMaster1.xml" Id="R53c1d49c1eb64b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498e29ea4d4140" /><Relationship Type="http://schemas.openxmlformats.org/officeDocument/2006/relationships/notesMaster" Target="/ppt/notesMasters/notesMaster1.xml" Id="Rfefc3aa75ecd45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a5eb832a7644ff" /><Relationship Type="http://schemas.openxmlformats.org/officeDocument/2006/relationships/notesMaster" Target="/ppt/notesMasters/notesMaster1.xml" Id="R1bc19cb3ae5d43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faaec6ccbc4b03" /><Relationship Type="http://schemas.openxmlformats.org/officeDocument/2006/relationships/notesMaster" Target="/ppt/notesMasters/notesMaster1.xml" Id="Rf83913805bb947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b6d5ea0ad84e09" /><Relationship Type="http://schemas.openxmlformats.org/officeDocument/2006/relationships/notesMaster" Target="/ppt/notesMasters/notesMaster1.xml" Id="Rac48f86e81874b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330dc2e28f45f6" /><Relationship Type="http://schemas.openxmlformats.org/officeDocument/2006/relationships/notesMaster" Target="/ppt/notesMasters/notesMaster1.xml" Id="Rc8f4caeb94ee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019ffeb4a47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728bc62c924444b" /><Relationship Type="http://schemas.openxmlformats.org/officeDocument/2006/relationships/slideLayout" Target="/ppt/slideLayouts/slideLayout2.xml" Id="R757c574733ce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7c574733ce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ad9647a68e4b74" /><Relationship Type="http://schemas.openxmlformats.org/officeDocument/2006/relationships/notesSlide" Target="/ppt/notesSlides/notesSlide1.xml" Id="R7143e93da6e944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35ed8d4a74644" /><Relationship Type="http://schemas.openxmlformats.org/officeDocument/2006/relationships/notesSlide" Target="/ppt/notesSlides/notesSlide2.xml" Id="Rec96c2651a6a41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5fcdee80694740" /><Relationship Type="http://schemas.openxmlformats.org/officeDocument/2006/relationships/notesSlide" Target="/ppt/notesSlides/notesSlide3.xml" Id="R651c09f226034a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c87abe611442f2" /><Relationship Type="http://schemas.openxmlformats.org/officeDocument/2006/relationships/notesSlide" Target="/ppt/notesSlides/notesSlide4.xml" Id="R7a6128f5a7d84c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5c0f5906747b5" /><Relationship Type="http://schemas.openxmlformats.org/officeDocument/2006/relationships/notesSlide" Target="/ppt/notesSlides/notesSlide5.xml" Id="Rd6a8af47a4a44e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05ba0546554d44" /><Relationship Type="http://schemas.openxmlformats.org/officeDocument/2006/relationships/notesSlide" Target="/ppt/notesSlides/notesSlide6.xml" Id="R52d1363c63e5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8b71a8d2a49a0" /><Relationship Type="http://schemas.openxmlformats.org/officeDocument/2006/relationships/image" Target="/ppt/media/image.png" Id="R5e6a77c3882f4027" /><Relationship Type="http://schemas.openxmlformats.org/officeDocument/2006/relationships/notesSlide" Target="/ppt/notesSlides/notesSlide7.xml" Id="Rb4963dbe31fa41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3b0f262a8d4600" /><Relationship Type="http://schemas.openxmlformats.org/officeDocument/2006/relationships/image" Target="/ppt/media/image2.png" Id="R8d0ea32d58be4ef6" /><Relationship Type="http://schemas.openxmlformats.org/officeDocument/2006/relationships/notesSlide" Target="/ppt/notesSlides/notesSlide8.xml" Id="Rdd6a56dbc2c542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f541376e245a6" /><Relationship Type="http://schemas.openxmlformats.org/officeDocument/2006/relationships/image" Target="/ppt/media/image3.png" Id="R9494acb09cf54c6c" /><Relationship Type="http://schemas.openxmlformats.org/officeDocument/2006/relationships/notesSlide" Target="/ppt/notesSlides/notesSlide9.xml" Id="Rbdb652966bef44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9ecaa988204b4d" /><Relationship Type="http://schemas.openxmlformats.org/officeDocument/2006/relationships/image" Target="/ppt/media/image4.png" Id="R5dbf824e3b774803" /><Relationship Type="http://schemas.openxmlformats.org/officeDocument/2006/relationships/notesSlide" Target="/ppt/notesSlides/notesSlide10.xml" Id="R36afa0ed6d5a4b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57c5506a1d44fc" /><Relationship Type="http://schemas.openxmlformats.org/officeDocument/2006/relationships/notesSlide" Target="/ppt/notesSlides/notesSlide11.xml" Id="R414f245a82214d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017effa7d4774" /><Relationship Type="http://schemas.openxmlformats.org/officeDocument/2006/relationships/notesSlide" Target="/ppt/notesSlides/notesSlide12.xml" Id="Rfe132f77a58a49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2e3b03cff4bbc" /><Relationship Type="http://schemas.openxmlformats.org/officeDocument/2006/relationships/notesSlide" Target="/ppt/notesSlides/notesSlide13.xml" Id="Rc092c0ff0bbf4f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84302-5533-4C10-A749-A3F0702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INTERNAL PILOT REHEARSAL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BBA15-07E2-412A-9417-9F115059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FluencyTracr AI Work Evidence Packet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4A14F-B173-4733-8893-6CCC4D74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full aggregate run using company-owned telemetry to show what an executive-ready pilot can deliver before ROI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F8E6-EE65-42E1-9052-E53342D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EA00B-2FEB-4034-9B6E-DB3DC32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4B8E8-073B-49E2-9636-6C6DF95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4.93 TB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AD2F9-6030-4DB6-A468-3CCBC99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Fresh BigQuery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877F4-1C1C-45DA-A4FD-B754A2E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CBB6B-951F-409D-A9E2-4746C501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8A4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8A45"/>
                </a:solidFill>
                <a:latin typeface="Arial"/>
                <a:ea typeface="Arial"/>
                <a:cs typeface="Arial"/>
              </a:rPr>
              <a:t>99.95%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0CD51-8D5A-4E72-846A-2FE9C58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146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High-confidence trust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46AEE-4F4C-4D83-8B2D-251A5F6D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0AF17-5BF1-4B52-AC80-8A7E154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43.1%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AA660-A028-4C3D-A358-BFBAF46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Trust evidence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AC249-C0E6-47B2-9967-68D6C86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428875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99BC2-DF56-4D98-B15D-F2ED73FF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99.6%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9EAAB-99F5-4587-8AA2-855AE17A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1146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Skill-read parent join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D7CE1-877A-43B1-BD2F-0B8F635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3525500" cy="2238375"/>
          </a:xfrm>
          <a:prstGeom xmlns:a="http://schemas.openxmlformats.org/drawingml/2006/main" prst="roundRect">
            <a:avLst>
              <a:gd name="adj" fmla="val 11915"/>
            </a:avLst>
          </a:prstGeom>
          <a:solidFill xmlns:a="http://schemas.openxmlformats.org/drawingml/2006/main">
            <a:srgbClr val="061A44"/>
          </a:solidFill>
          <a:ln xmlns:a="http://schemas.openxmlformats.org/drawingml/2006/main" w="13335">
            <a:solidFill>
              <a:srgbClr val="061A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EB6FB-E618-4B92-8A5B-1920A5AA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E1C2B-450B-4B16-8CA7-D8DABD7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data already separates AI activity from workflow evidence, trust evidence, source coverage, and value-readiness. The current blocker is not telemetry volume; it is downstream outcome evidence and governed assumptions.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29787-18EA-43CB-A779-B6848524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9A2F6-76AD-4B8E-92FA-914FD06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10064794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7C6C8-5AB0-418F-A287-5F51923B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3954B-477E-4A88-9A29-47811BF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What Leaders Should Take 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D9807-2024-41D1-A845-8EE8D24A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High-level outcomes and strategies come first; detailed evidence sits in the appendix.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DABD4-2537-436A-97F6-B2AF27B0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7D16-31D1-4984-946C-47880D7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352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12FD-3292-4C78-9554-72645D31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69A6E-4561-437E-AEB2-E5135B4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C1786-06F1-4312-A298-82C17F6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86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Evidence layer is viable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228C4-C5BE-4335-ABE3-9FBDE7A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57475"/>
            <a:ext cx="1181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Existing aggregate telemetry can produce a structured AI Work Evidence packet without starting with client HR, survey, or finance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2EB2A-3C66-4043-B6CE-28D359CA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352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60E79-DF5E-4089-B92F-340AA085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A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90AD2-E165-41D8-8AFD-D6FB5BD0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050AA-3871-4FBD-819E-74099F9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The recommendation engine is the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3A0CC-B149-4CE6-B207-A859676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90975"/>
            <a:ext cx="1181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FluencyTracr turns observed AI work patterns into the next outcome data, formula family, caveat, and blocked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9213C-114A-4853-8069-FBD5F68C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352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AB76E-E9C9-4B17-99FD-2C05521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AE858-E601-4987-90A2-A3627B2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E093D-E2F9-4FC4-AB64-C0A1F19F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53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Workflow evidence beats adoption volume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5F327-6AFA-47EE-9810-7F7BC918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24475"/>
            <a:ext cx="1181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2,025 workflow/trust patterns are more executive-useful than broad activity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30CD7-EE74-470C-9948-844865C1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352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6AE0E-C466-4CCE-8DA2-C54769DF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341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CE8F9-2CBE-4CD1-8947-3BBAE261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63AB8-9FD9-44B9-B8E8-22202DA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86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ROI stays held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8C9BA-1A92-44A9-8E68-E9B10C7A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657975"/>
            <a:ext cx="1181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packet recommends value tests, but does not calculate ROI or claim causality without governed outcomes and assumptions.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A33AC-7854-424B-AA5A-6C5DB28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B9FE8-09C6-4193-986B-0CC8D72C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799423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D2716-7543-4758-9FBB-88A85F6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RECOMMENDATION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94892-CAC2-4CB2-993C-C6D2C6A8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From AI Work Evidence to Executive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ADD90-0055-437F-9945-D121D3F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engine is framework-driven: observe aggregate patterns, route the value hypothesis, then name the smallest outcome evidence needed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8FF9B-EA77-4F4F-8671-6ED7033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10854-115F-4E43-BF40-639C22F5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CE3A1-4B63-4363-92EC-D6A1DD3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8E08F-78A4-4643-A262-74D2878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81386-EA24-451B-A7D9-BD587660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619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Surfaces, workflow keys, behavioral primitives, trust signals, source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BA109-21A1-4DD6-8B0E-8969B70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4923F-EBC3-4A8D-BADE-6D8ABCF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14325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55916-B76F-489B-B12C-E2AF555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52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75992-346F-47A4-B205-9F6A5AD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85CA7-9A6D-44D6-8193-EFE469A9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43250"/>
            <a:ext cx="2619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Velocity x Depth, AI-service workflow family, value-readiness 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BDF9F-D9C6-4EDE-84F4-75921023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26C01-0C9C-41F1-80FC-BC4972C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4325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86EFA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4DE5E-C500-486F-92B9-504345D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8A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8A4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CECA0-968D-48BC-BB95-B15F229B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BBC41-7C92-4224-9ED6-A183790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619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Outcome signal, source family, formula template, caveat, blocked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E0DB9-751F-4E4F-8266-4F33B61C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4DC34-4BAC-4158-9827-2C3341AF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333625"/>
            <a:ext cx="314325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241E0-A5C3-4D67-9D7C-9AAA8CE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552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452D3-6607-44C5-8D08-50E628B7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Hold or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76BFC-224B-468D-BCFB-7C47E54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143250"/>
            <a:ext cx="2619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Proceed only when aggregate outcome evidence and assumptions are governed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57B04-A021-42A1-A8B3-F4E3A34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1295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1A44"/>
          </a:solidFill>
          <a:ln xmlns:a="http://schemas.openxmlformats.org/drawingml/2006/main" w="13335">
            <a:solidFill>
              <a:srgbClr val="061A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2D8A0-EAD7-42AE-97D0-F3ED78E0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03B46-C16D-4645-A34F-652D3D2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1200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friction is the first value test candidate: 1,333 aggregate patterns combine search-to-agent movement and post-friction continuation. Request resolution time, escalation rate, reopen rate, backlog movement, and CSAT. Do not claim causality or ROI yet.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1E177-D4ED-4D51-86A1-0F2EDD3E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4249C-C93D-4885-9CA3-35D54EB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11164207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AA0A6-D841-4906-9FF0-BE28702B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STRATEGIC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382C9-2987-44C0-B5E5-4B11E81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Where This Points a Client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2BD82-7FFC-417A-BB11-A0DB735E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Each recommendation names the outcome evidence needed to test value without overclaiming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906CC-21F7-451B-BEB2-5E20071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ECD78-B330-4F73-A659-172B24C6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D7E7B-81CD-4E2B-94F6-0A669B76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Support friction value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0A10D-C1A4-4883-990B-45FAD6E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Search-to-agent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A9F68-1AC2-4FF1-B37A-29B2BDDC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812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Resolution time, escalation rate, reopen rate, backlog movement, CSAT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BA1AE-D18B-460A-970C-9E4B388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1812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Outcome evidence 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F813E-1A96-4F94-903B-99B476F4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3716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E7153-2A6A-432A-967B-2623F0E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Workflow execution capacity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07825-94A3-426F-8633-04D761DA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48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Agent/action execution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A5851-3927-4C1A-AC8D-EED510D4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480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Completed work volume, cycle time, backlog movement, stage progression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0B65F-E36D-4DB3-89F1-6EBE5759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48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Outcome evidence missing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94488-2A2E-45C5-850D-88BDD40F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13716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ADC74-D888-410E-999D-E4BC799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148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Verification quality and risk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4054C-4A78-48D6-9BA6-4C73ED8D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148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Verification or feedback-attached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8A904-39D3-4075-8D9D-7DE70B63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14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QA pass rate, defect rate, correction rate, approval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FECE8-CF51-4E16-B2F6-00073C9A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3148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Trust attribution 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37C93-45B8-467E-BA94-8E0907A6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3716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20690-0E06-458D-82F1-4EFAAEF4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Proof-loop repair agenda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33738-894B-4867-AFD6-1C58D98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81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Trust-evidence repair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89951-7082-4809-BAB4-64F74B17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81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Verification coverage, feedback-loop coverage, unresolved trust-gap 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D3CE1-2D3A-4D59-9CD0-56FE165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381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Source coverage 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28796-CB98-468A-B34D-6D023B93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13716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5E0CB-8BF3-482F-AE3B-16460F0B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484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Source-linkage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7C00B-07C0-45B2-B100-DC3E7AAB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48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Source-linkage or boundary repair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24659-11BF-4684-973F-E9E2756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4484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coverage, join completeness, metadata completeness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6279C-1B8A-4651-B841-A464920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448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Source coverage 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F4B9B-17FF-4D2C-8758-08A44B6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F77E59-EC9E-4828-8D85-02171EAD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5294110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24D949-8C67-4634-845B-FC8FB71B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WHAT THE RUN OBSERVED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503D8-BF5A-48E1-80E7-9063EB8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Observable Variables, Not Client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79AD3-9C8E-4622-965E-FDFDE7DD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rehearsal starts from variables already visible in company-owned telemetry, then names gaps as product readiness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D7FAF-5921-4F46-B340-729B453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4D7AA-348A-4F4E-B4E0-F3E7F7D9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095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07232-414B-4C0F-B7F8-6B4A9585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94E60-3F3D-4DC5-8A7B-E47AF74E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3600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Search, autocomplete, workflow runs, AI summary, bot activity, MCP, agent spans.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C3F04-601B-4EA8-987D-81EA65A3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33625"/>
            <a:ext cx="4095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5F676-21EB-4257-AAA1-2E574804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431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Workflow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61057-15B6-4212-9A9A-C7A32755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00375"/>
            <a:ext cx="3600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Run/action keys, session tokens, trace/tracking keys, workflow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6974E-6E93-448D-8CFF-14D074E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4095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7482B-2E28-446C-93A2-83D2920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431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Behavior primitives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8002C-F575-4EC9-BF75-8DF2334D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00375"/>
            <a:ext cx="3600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Frequency, engagement, breadth, iteration/refinement, recovery-like continuation,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327B2-5F64-4822-8038-9EC05614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4095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90B2D-4AD5-4A5A-8272-391771F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386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Trust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F8F07-1FDA-4788-8D9F-584F1BCE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95875"/>
            <a:ext cx="3600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Feedback, citations, citation clicks, action success, post-friction continuation.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A85E5-BCAF-4818-82F2-D70EE4F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4095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75956-36CF-4CCC-8077-D884D69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386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Value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CFAF1-6B68-41CD-96A5-B3C23EAF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095875"/>
            <a:ext cx="3600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Velocity x Depth zones, AI work pattern tiers, source coverage, outcome-readiness gates.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61269-8418-4E12-A3D5-55A8B23B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29125"/>
            <a:ext cx="4095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2A9FD-D879-4C61-AC46-6907EA6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386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Held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D8B10-F778-4D71-9571-C0C0084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95875"/>
            <a:ext cx="3600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Outcome joins, assumption ledger, causality design, monetary range values.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63ABB-9585-449C-93DB-27AF5986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D7444-0ED3-446D-8EA4-E24F9F6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657733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DE7EA-EDE7-49C7-AEDF-EE9AF88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FRESH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EF300-25D2-4452-A99B-D77443F1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Velocity, Depth, Reliability,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A2C41-7A83-4279-85CF-8467C4D0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microcosm view shows growing breadth and sustained reliability/quality context across the latest 90-day window.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5A632-F41F-4B24-B965-D8E6F6B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3BD93-E0F3-433F-AF58-EE4F882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Frequency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DC4AA-BE0F-4061-BEE5-C388D48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45320"/>
            <a:ext cx="323850" cy="207443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13335">
            <a:solidFill>
              <a:srgbClr val="24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4F0D9-0553-4E7F-9A51-212CB5F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70.2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A9DDE-6E20-4064-A47D-C32765E8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779144"/>
            <a:ext cx="323850" cy="184060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1333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F2638-1E98-4729-BFE4-217AFB56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62.3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CC87B-6739-4FB8-A369-7DC87CE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38500"/>
            <a:ext cx="323850" cy="2381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13335">
            <a:solidFill>
              <a:srgbClr val="24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5166F-CF1D-47FC-88F5-C1C26C6D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80.6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5CFAC-64E4-4A4D-85A6-B6429B47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66E10-9474-4865-AEF3-872BE758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20567"/>
            <a:ext cx="323850" cy="1999183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13335">
            <a:solidFill>
              <a:srgbClr val="0E749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99937-5BA0-4E0B-AEBE-EE20BD5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17.3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04D79-A345-4114-B529-E5369AF6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02423"/>
            <a:ext cx="323850" cy="1817327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13335">
            <a:solidFill>
              <a:srgbClr val="0E749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29ADE-5896-4453-B1FA-284A9422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15.7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8E57A-79B0-450B-91B8-9E26FEDD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38500"/>
            <a:ext cx="323850" cy="2381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13335">
            <a:solidFill>
              <a:srgbClr val="0E749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914CD-CFC2-4BA5-AD27-63D1910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20.6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88B2A-4495-4BA1-85D4-F3FA64D2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Breadth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AE48C-A9B1-41C9-A268-4CC5874C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1972"/>
            <a:ext cx="323850" cy="209777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3335">
            <a:solidFill>
              <a:srgbClr val="7C3A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4CE53-9834-45F9-9701-CB73044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B1711-48E8-40EA-8240-4355D3AB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52524"/>
            <a:ext cx="323850" cy="186722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3335">
            <a:solidFill>
              <a:srgbClr val="7C3A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28393-8FC4-42F9-A611-2700C1DE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5.1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FB024-C628-4A81-8A7E-8D4045BF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38500"/>
            <a:ext cx="323850" cy="2381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3335">
            <a:solidFill>
              <a:srgbClr val="7C3AE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108BD-8FFA-4586-B46E-3EB8818A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6.5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AE23C-5DFC-4849-9CAA-F99F5F0E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4A4AE-9081-425B-80EC-C4157395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25491"/>
            <a:ext cx="323850" cy="169425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8A45"/>
          </a:solidFill>
          <a:ln xmlns:a="http://schemas.openxmlformats.org/drawingml/2006/main" w="13335">
            <a:solidFill>
              <a:srgbClr val="0F8A4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22F42-9E29-4EE6-92D2-3D734764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0.71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2EFBE-5D1C-45B6-A88D-AAB9FE4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091702"/>
            <a:ext cx="323850" cy="152804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8A45"/>
          </a:solidFill>
          <a:ln xmlns:a="http://schemas.openxmlformats.org/drawingml/2006/main" w="13335">
            <a:solidFill>
              <a:srgbClr val="0F8A4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0A75FA-BFB2-410B-8F91-D124C6F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0.64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05BDC1-3A6D-47EB-9CC8-9AF17C3C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971211"/>
            <a:ext cx="323850" cy="164853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8A45"/>
          </a:solidFill>
          <a:ln xmlns:a="http://schemas.openxmlformats.org/drawingml/2006/main" w="13335">
            <a:solidFill>
              <a:srgbClr val="0F8A4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849C1-EFF7-43A7-A058-FEF25134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1362E-9AD2-489B-88D7-574E6DE1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86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2CF769-CBD7-4F77-8BF9-641D977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716530"/>
            <a:ext cx="323850" cy="290322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3335">
            <a:solidFill>
              <a:srgbClr val="D9770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0F1FD-607B-43E6-B132-68563C57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1.22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2FFC39-469F-47BE-8FE7-1E2B6516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2956798"/>
            <a:ext cx="323850" cy="2662952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3335">
            <a:solidFill>
              <a:srgbClr val="D9770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069A1-7F3D-4E40-9192-06AA14C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1.12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310BEB-2C9B-49AA-BCD9-695FE04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2798921"/>
            <a:ext cx="323850" cy="282082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3335">
            <a:solidFill>
              <a:srgbClr val="D9770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FEC57A-6483-4F27-BF7F-5CD3B53A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810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1.18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9C825-B9E8-4AB0-8D19-8A51677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246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Window 1       Window 2       Window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EE88D-2546-4FC9-98BB-FCA9B8D0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E5FBD8-7803-4D81-BE69-DC90A1FB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11462013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26CE7-78D2-43EE-B6DF-4244FA8B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AI WORK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C900E-9331-49D1-B551-B0260741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Activity Is Not the Same as Workflow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99C86-3049-428A-B8E5-74D67BD6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 pattern tiers prevent high-volume assistive events from drowning out stronger workflow and trust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292C3-E8D5-492D-9359-777F4C3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F870-0278-4D4F-90B9-8CCB73D7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A495-85FE-4909-B2ED-26DAA74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a77c3882f4027"/>
          <a:stretch xmlns:a="http://schemas.openxmlformats.org/drawingml/2006/main"/>
        </p:blipFill>
        <p:spPr>
          <a:xfrm xmlns:a="http://schemas.openxmlformats.org/drawingml/2006/main">
            <a:off x="2540000" y="1952625"/>
            <a:ext cx="10160000" cy="571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625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2E476-79BF-4B99-AA78-23C5C6DD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VALUE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C9968-8CFC-45CD-A5D9-C8D68825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Where the Evidence Points Leaders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7C980-58D4-45DE-8CF6-AD35E335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largest lane is trust-evidence repair; the most commercial lane is scale-and-measure review with outcome evidence attached.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F2EDF-278B-4BD6-85A8-EFE22644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4DBB9-661D-4833-9E04-070F0B5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3D282-8877-4E27-91FC-1A217A54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a32d58be4ef6"/>
          <a:stretch xmlns:a="http://schemas.openxmlformats.org/drawingml/2006/main"/>
        </p:blipFill>
        <p:spPr>
          <a:xfrm xmlns:a="http://schemas.openxmlformats.org/drawingml/2006/main">
            <a:off x="2540000" y="1952625"/>
            <a:ext cx="10160000" cy="571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393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9E9A8-04F3-47EC-A240-AE493C9A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F77F2-1BE3-4528-B696-2C9F74F1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Trust Attribution Is the Product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CF860-3002-4C37-A200-29775BC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best trust evidence is workflow-attached verification and continuation, not standalone citation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4228-5058-452B-8239-66104B56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A6A98-42AD-4F06-B28A-63AB8CFA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3617E-8669-45E5-801B-828874D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4acb09cf54c6c"/>
          <a:stretch xmlns:a="http://schemas.openxmlformats.org/drawingml/2006/main"/>
        </p:blipFill>
        <p:spPr>
          <a:xfrm xmlns:a="http://schemas.openxmlformats.org/drawingml/2006/main">
            <a:off x="2540000" y="1952625"/>
            <a:ext cx="10160000" cy="571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715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0A5A4-A266-4AA1-B47B-1731A8B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4AA86-5903-42D6-A88A-7AC44CF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What We Have and What Is Still Held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6E0E4-37DC-4466-934F-9360799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Missing evidence is presented as a product-readiness gap, not as an ask that blocks the first pilot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065F5-BA3D-48AD-AF07-348810D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55D8A-E476-4DE5-A4DE-D1B0C0B4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89779-17F1-43CA-9EB4-69E1CC18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f824e3b774803"/>
          <a:stretch xmlns:a="http://schemas.openxmlformats.org/drawingml/2006/main"/>
        </p:blipFill>
        <p:spPr>
          <a:xfrm xmlns:a="http://schemas.openxmlformats.org/drawingml/2006/main">
            <a:off x="2370667" y="1809750"/>
            <a:ext cx="10498667" cy="590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118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B2CAC-54EC-40A1-86C0-19C700A2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DECISION MEMO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0EC6D-6300-4E16-9D74-01A13E8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Proceed, But Keep the Claim Narrow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F6846-82D2-47D7-A923-46CDFA9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This is commercially useful as an evidence layer, not yet as an ROI calculator.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F7FAE-01F7-440F-A82B-A8A0BD3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5C538-B593-4942-8AC2-4ED3C32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1C6CB-44F4-42BA-9780-B8B3A43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A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8A45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9B69-82D9-403D-B0A8-D855E185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Build the external executive rehearsal packet from this internal pilot.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3CB73-EB16-4DC8-8BAE-4DE6823F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3144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E702-EF17-44CD-8043-EC7402F1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51244-B6D0-42BF-9627-DF91B96C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9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Aggregate work evidence, workflow integration, trust gaps, source coverage, and value-investigation routing.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2032E-56F4-4DA2-981D-4FAF97B2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3144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3C02F-0703-4BD5-B546-199864A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C2147-AA5B-4C96-B61B-1B57E3C5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Dollarized ROI, causal impact, productivity lift, correctness, and people/team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496DE-5057-407B-93EE-FC19AC3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13144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52A00-E84C-47EF-BFD2-3C020C5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00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52397-7CE6-482F-A63F-95A8A068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91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 the same aggregate variable names for client pilots and add outcome/assumption lanes only when they are governed.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261BB-9BC4-4891-A663-B882346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38805-C0BE-4232-A08E-02950F68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7712648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630B3-9FDA-4552-A51D-5DF81A26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GLOSSARY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63065-30AD-4238-ADDA-5A1AE7D4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Terms That Explain the Evidence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E359C-D9AF-480C-BB6E-CB3A880B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Plain-English definitions for the terms used in this packet.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8C221-B47A-4564-8220-EB4751C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4E9F6-1971-4FC4-8397-7F072D5B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AI Work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0B1EE-0084-4788-BE04-05A0FB9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Aggregate telemetry showing where AI appears in work, how it connects to workflows, and where evidence is strong or weak.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85D08-16F5-4FD5-94A9-D6C92969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AI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2B2C2-AC8E-4684-8697-9CA6E17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place where AI can be used: search, chat, autocomplete, workflow runs, agent spans, or embedded assistants.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73AD1-0350-454A-B9B9-07C70CC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Workflow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6AAC7-A950-4BE8-B562-632CED2D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Aggregate signs that AI is attached to a real work path instead of a standalone interaction.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F49C6-795F-4BEB-AFA8-E475EA0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7A3F9-B99A-4373-82B4-30303F7B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quickly AI-assisted work appears to move, using aggregate frequency, engagement, and repeat-use patterns.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C2137-6A2F-4553-BDDF-62E1322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32A78-AB5A-4F5E-98B1-E9C0A82D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embedded AI appears to be across surfaces and workflows; not an individual skill label.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ED72D-994F-421D-A63C-A5484BF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Frequency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5771-4E7C-4E95-9A57-2E346622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often AI activity appears in the aggregate window.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6D7B3-3C9A-41C8-84C1-DE8FF84D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7CED8-D02D-420C-84F5-2856F5D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much aggregate interaction occurs around AI-assisted work, such as repeated use or continued activity.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5F493-0276-455A-B551-F2EDBD0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Breadth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D9289-5118-43FD-A026-3888676B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102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many distinct AI surfaces or work contexts appear in the aggregate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C95C0-303C-4E97-A575-C5659B5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Reliability Factor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25C49-ED18-4818-91C2-E4F63D4A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103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confidence lens using abandonment, friction loops, recovery, and verification before interpreting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5DECC-8821-4A58-94F0-9F321E4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14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Quality Multiplier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00317-8949-48F4-BA5D-E6F7D5F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103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caveat lens for later time-saved assumptions; not used here to calculate ROI.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F6512-C67A-4F30-AA08-916F1DF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81088-2768-4E40-831F-CC2F1463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141284316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7D71F-7818-45CC-B1F0-E81EA34C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63EB"/>
                </a:solidFill>
                <a:latin typeface="Arial"/>
                <a:ea typeface="Arial"/>
                <a:cs typeface="Arial"/>
              </a:rPr>
              <a:t>GLOSSARY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2D9CF-A509-4F43-9170-34CD5CEF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90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Terms That Explain Readiness and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47EAF-0200-4B7E-A967-9607C8A9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Plain-English definitions for the terms used in this packet.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45531-51CF-4BCD-B5C1-08298F6A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Signals, not scores. Aggregate evidence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C2C1-5EDE-4500-90AA-BB13A8CC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Trust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1268C-B499-4F34-9D6B-AA2BF3C1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Aggregate signs that people verified, continued, corrected, recovered, or gave feedback after AI assistance.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33FC9-588A-486A-A144-637F734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Trust attribution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BC633-E98E-458C-B846-443ACBAB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Whether a trust signal can be attached to a workflow path with enough confidence to interpret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3C217-9AA9-49CC-8B9B-498BD067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Evidence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33321-6BFB-4931-B21F-FA90F0FF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Activity exists, but source coverage, attribution, or downstream context is too weak to interpret.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46B3D-DC22-4116-B0E6-D9DE4D27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AI work pattern 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141DC-7FCA-44D1-ACDB-0FB26D0B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plain-language bucket separating raw AI activity from stronger workflow, verification, or coverage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98BFE-60AA-4746-AF6B-BAC14D7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Value-readiness 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2F32C-5429-43A2-A99F-E13C955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An executive action lane: scale, redesign, repair trust loops, or hold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EAEB9-C3DA-404F-BB54-EA381BB0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Outcome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7065F-8FC4-4708-B9B8-A94ACF2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Customer-owned aggregate business context that can be attached later without claiming causality by default.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3F343-EEC6-423C-88E2-B9AB2D68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Value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AE40E-3430-466E-BF40-011AD78C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testable idea about possible value, such as acceleration, quality premium, or net-new work; not ROI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46380-A48F-4D0A-9C58-FD3A23A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Source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E683C-4137-4189-9CAA-29C2ED43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102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complete and unambiguous the available telemetry is for a given aggregate interpretation.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7511A-205E-4881-B9F6-76534985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4"/>
                </a:solidFill>
                <a:latin typeface="Arial"/>
                <a:ea typeface="Arial"/>
                <a:cs typeface="Arial"/>
              </a:rPr>
              <a:t>Suppressed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B458F-A986-4AEB-BD51-19CBFFB1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10325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fail-closed result where FluencyTracr withholds interpretation because the evidence bar is not met.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80679-E131-4325-8B5F-6D33EF34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9065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1333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F7897-CB27-4DAF-AA26-A3B3C400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581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individual scoring | No team ranking | No ROI calculation | No causality claim</a:t>
            </a:r>
          </a:p>
        </p:txBody>
      </p:sp>
    </p:spTree>
    <p:extLst>
      <p:ext uri="{BB962C8B-B14F-4D97-AF65-F5344CB8AC3E}">
        <p14:creationId xmlns:p14="http://schemas.microsoft.com/office/powerpoint/2010/main" val="1092943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2026-05-28T19:20:14.7250000Z</dcterms:created>
  <dcterms:modified xsi:type="dcterms:W3CDTF">2026-05-28T19:20:14.7250000Z</dcterms:modified>
</coreProperties>
</file>